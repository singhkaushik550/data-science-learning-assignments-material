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embeddedFontLst>
    <p:embeddedFont>
      <p:font typeface="Play"/>
      <p:regular r:id="rId22"/>
      <p:bold r:id="rId23"/>
    </p:embeddedFont>
    <p:embeddedFont>
      <p:font typeface="Nunito"/>
      <p:regular r:id="rId24"/>
      <p:bold r:id="rId25"/>
      <p:italic r:id="rId26"/>
      <p:boldItalic r:id="rId27"/>
    </p:embeddedFont>
    <p:embeddedFont>
      <p:font typeface="Source Sans 3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Play-regular.fntdata"/><Relationship Id="rId21" Type="http://schemas.openxmlformats.org/officeDocument/2006/relationships/slide" Target="slides/slide17.xml"/><Relationship Id="rId24" Type="http://schemas.openxmlformats.org/officeDocument/2006/relationships/font" Target="fonts/Nunito-regular.fntdata"/><Relationship Id="rId23" Type="http://schemas.openxmlformats.org/officeDocument/2006/relationships/font" Target="fonts/Play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SourceSans3-regular.fntdata"/><Relationship Id="rId27" Type="http://schemas.openxmlformats.org/officeDocument/2006/relationships/font" Target="fonts/Nuni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SourceSans3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SourceSans3-boldItalic.fntdata"/><Relationship Id="rId30" Type="http://schemas.openxmlformats.org/officeDocument/2006/relationships/font" Target="fonts/SourceSans3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861187" y="457104"/>
            <a:ext cx="6096000" cy="437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800"/>
              <a:buFont typeface="Source Sans 3"/>
              <a:buNone/>
            </a:pPr>
            <a:r>
              <a:rPr b="1" i="0" lang="en-US" sz="2800" u="none" cap="none" strike="noStrike">
                <a:solidFill>
                  <a:srgbClr val="273239"/>
                </a:solidFill>
                <a:latin typeface="Source Sans 3"/>
                <a:ea typeface="Source Sans 3"/>
                <a:cs typeface="Source Sans 3"/>
                <a:sym typeface="Source Sans 3"/>
              </a:rPr>
              <a:t>Logistic Regression in Machine Learning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137711" y="1042830"/>
            <a:ext cx="10493445" cy="26622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5235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Nunito"/>
              <a:buNone/>
            </a:pPr>
            <a:r>
              <a:rPr b="0" i="0" lang="en-US" sz="1800" u="none" cap="none" strike="noStrike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Logistic Regression is a supervised machine learning algorithm used for classification problems. Unlike linear regression which predicts continuous values it predicts the probability that an input belongs to a specific class.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Nunito"/>
              <a:buChar char="•"/>
            </a:pPr>
            <a:r>
              <a:rPr b="0" i="0" lang="en-US" sz="1800" u="none" cap="none" strike="noStrike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It is used for binary classification where the output can be one of two possible categories such as Yes/No, True/False or 0/1.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Nunito"/>
              <a:buChar char="•"/>
            </a:pPr>
            <a:r>
              <a:rPr b="0" i="0" lang="en-US" sz="1800" u="none" cap="none" strike="noStrike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It uses sigmoid function to convert inputs into a probability value between 0 and 1</a:t>
            </a:r>
            <a:r>
              <a:rPr b="0" i="0" lang="en-US" sz="1300" u="none" cap="none" strike="noStrike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unito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</a:t>
            </a:r>
            <a:r>
              <a:rPr b="0" i="0" lang="en-US" sz="19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    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ypes_of_logistic_regression.webp" id="86" name="Google Shape;86;p13"/>
          <p:cNvSpPr/>
          <p:nvPr/>
        </p:nvSpPr>
        <p:spPr>
          <a:xfrm>
            <a:off x="-167089" y="2373940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667" y="2752152"/>
            <a:ext cx="10488489" cy="4105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92" y="1056944"/>
            <a:ext cx="10498015" cy="4744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586" y="270537"/>
            <a:ext cx="10517068" cy="4163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7069" y="0"/>
            <a:ext cx="10222451" cy="6484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0899" y="0"/>
            <a:ext cx="9159391" cy="6522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940" y="237680"/>
            <a:ext cx="9259592" cy="3191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176" y="185285"/>
            <a:ext cx="10907647" cy="6487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6516" y="491613"/>
            <a:ext cx="8475406" cy="5515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1"/>
          <p:cNvSpPr/>
          <p:nvPr/>
        </p:nvSpPr>
        <p:spPr>
          <a:xfrm flipH="1" rot="-2700000">
            <a:off x="-376156" y="-253670"/>
            <a:ext cx="1827638" cy="1376989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1"/>
          <p:cNvSpPr/>
          <p:nvPr/>
        </p:nvSpPr>
        <p:spPr>
          <a:xfrm flipH="1" rot="-2700000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1"/>
          <p:cNvSpPr/>
          <p:nvPr/>
        </p:nvSpPr>
        <p:spPr>
          <a:xfrm flipH="1" rot="-2700000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1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1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fmla="val 50000" name="adj"/>
            </a:avLst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4441" y="643467"/>
            <a:ext cx="7503117" cy="557106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1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fmla="val 50000" name="adj"/>
            </a:avLst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2"/>
          <p:cNvSpPr/>
          <p:nvPr/>
        </p:nvSpPr>
        <p:spPr>
          <a:xfrm flipH="1" rot="-2700000">
            <a:off x="-376156" y="-253670"/>
            <a:ext cx="1827638" cy="1376989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2"/>
          <p:cNvSpPr/>
          <p:nvPr/>
        </p:nvSpPr>
        <p:spPr>
          <a:xfrm flipH="1" rot="-2700000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2"/>
          <p:cNvSpPr/>
          <p:nvPr/>
        </p:nvSpPr>
        <p:spPr>
          <a:xfrm flipH="1" rot="-2700000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2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2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fmla="val 50000" name="adj"/>
            </a:avLst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67" y="702733"/>
            <a:ext cx="10905066" cy="5452533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fmla="val 50000" name="adj"/>
            </a:avLst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3"/>
          <p:cNvSpPr/>
          <p:nvPr/>
        </p:nvSpPr>
        <p:spPr>
          <a:xfrm flipH="1" rot="-2700000">
            <a:off x="-376156" y="-253670"/>
            <a:ext cx="1827638" cy="1376989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3"/>
          <p:cNvSpPr/>
          <p:nvPr/>
        </p:nvSpPr>
        <p:spPr>
          <a:xfrm flipH="1" rot="-2700000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3"/>
          <p:cNvSpPr/>
          <p:nvPr/>
        </p:nvSpPr>
        <p:spPr>
          <a:xfrm flipH="1" rot="-2700000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3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3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fmla="val 50000" name="adj"/>
            </a:avLst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8488" y="643467"/>
            <a:ext cx="8315023" cy="557106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fmla="val 50000" name="adj"/>
            </a:avLst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4"/>
          <p:cNvSpPr/>
          <p:nvPr/>
        </p:nvSpPr>
        <p:spPr>
          <a:xfrm flipH="1" rot="-2700000">
            <a:off x="-376156" y="-253670"/>
            <a:ext cx="1827638" cy="1376989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4"/>
          <p:cNvSpPr/>
          <p:nvPr/>
        </p:nvSpPr>
        <p:spPr>
          <a:xfrm flipH="1" rot="-2700000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4"/>
          <p:cNvSpPr/>
          <p:nvPr/>
        </p:nvSpPr>
        <p:spPr>
          <a:xfrm flipH="1" rot="-2700000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4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4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fmla="val 50000" name="adj"/>
            </a:avLst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0033" y="643467"/>
            <a:ext cx="6671934" cy="557106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4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fmla="val 50000" name="adj"/>
            </a:avLst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020" y="1439158"/>
            <a:ext cx="3429479" cy="2772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43550" y="420075"/>
            <a:ext cx="4725059" cy="4229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729" y="170995"/>
            <a:ext cx="10326541" cy="6516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956" y="792213"/>
            <a:ext cx="10059804" cy="2953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/>
        </p:nvSpPr>
        <p:spPr>
          <a:xfrm>
            <a:off x="432619" y="694302"/>
            <a:ext cx="11031793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Practical Example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Case: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Customer Churn Prediction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Scenario: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telecom company wants to predict if a customer will leave.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Features: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Monthly charges, contract type, tenure, customer service calls.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Probability of churn (e.g., 0.78 → likely to churn).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Offer retention incentives to high-risk customers.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Advantages (Pros)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Easy to implement and interpret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Computationally efficient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Works well for linearly separable 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Outputs probabilities, not just class labels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✅ Can be extended to multiclass problems (multinomial logistic regression)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Disadvantages (Cons)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❌ Assumes linear relationship between features and log-odds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❌ Struggles with non-linear decision boundaries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❌ Sensitive to multicollinearity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❌ Can overfit in high-dimensional datasets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❌ Requires large sample size for stable estimates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/>
        </p:nvSpPr>
        <p:spPr>
          <a:xfrm>
            <a:off x="560439" y="546819"/>
            <a:ext cx="11307096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Limitations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Linearity Assumption: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Real-world data often has non-linear patterns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Outlier Sensitivity: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Outliers can distort coefficients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 Engineering Dependency: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Performance heavily depends on input features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Focus: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Standard logistic regression is for binary classification only.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Overcoming Limitations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Non-linearity: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polynomial features or switch to non-linear models (e.g., decision trees, SVMs)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Multicollinearity: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Apply dimensionality reduction (PCA) or remove correlated features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Overfitting: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regularization (L1/Lasso, L2/Ridge)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 Data: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Collect more data or use bootstrapping techniques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Multi-class Problems: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multinomial or one-vs-rest logistic regression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